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b="1" sz="1300">
                <a:solidFill>
                  <a:srgbClr val="1D4ED8"/>
                </a:solidFill>
              </a:defRPr>
            </a:pPr>
            <a:r>
              <a:t>HackWave · KrishiVaani  |  End-to-End Workflow: Farmer Query → Grounded Agricultural Response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03520" y="91440"/>
            <a:ext cx="6583680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50">
                <a:solidFill>
                  <a:srgbClr val="B45309"/>
                </a:solidFill>
              </a:defRPr>
            </a:pPr>
            <a:r>
              <a:t>★ Strict Grounding: Gemini synthesizes retrieved evidence; official data is ground truth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13716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15803D"/>
                </a:solidFill>
              </a:defRPr>
            </a:pPr>
            <a:r>
              <a:t>S1: Farmer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Voice or text prompt intake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822960"/>
            <a:ext cx="13716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0369A1"/>
                </a:solidFill>
              </a:defRPr>
            </a:pPr>
            <a:r>
              <a:t>S2: Input Type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Voice? Yes → Sarvam STT | No → 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822960"/>
            <a:ext cx="13716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4338CA"/>
                </a:solidFill>
              </a:defRPr>
            </a:pPr>
            <a:r>
              <a:t>S3: Preprocessing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Unicode NFKC, sanitize &amp; request_id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822960"/>
            <a:ext cx="13716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4338CA"/>
                </a:solidFill>
              </a:defRPr>
            </a:pPr>
            <a:r>
              <a:t>S4: Intent Classification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6 intents (crop, pest, scheme, mandi...)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822960"/>
            <a:ext cx="13716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4338CA"/>
                </a:solidFill>
              </a:defRPr>
            </a:pPr>
            <a:r>
              <a:t>S5: Context Extraction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Extract crop, state, season, stage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822960"/>
            <a:ext cx="13716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6D28D9"/>
                </a:solidFill>
              </a:defRPr>
            </a:pPr>
            <a:r>
              <a:t>S6: Query Routing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Multi-path execution branch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94560"/>
            <a:ext cx="210312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6D28D9"/>
                </a:solidFill>
              </a:defRPr>
            </a:pPr>
            <a:r>
              <a:t>Crop / Pest / Agri Branch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Agricultural Knowledge Retrieval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Vector + Keyword Hybrid Search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Similarity Evidence Check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2194560"/>
            <a:ext cx="210312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15803D"/>
                </a:solidFill>
              </a:defRPr>
            </a:pPr>
            <a:r>
              <a:t>Government Scheme Branch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Government Scheme Structured Data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Match state &amp; central subsidies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Direct application criteria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2194560"/>
            <a:ext cx="210312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B45309"/>
                </a:solidFill>
              </a:defRPr>
            </a:pPr>
            <a:r>
              <a:t>Mandi Price Branch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Mandi Structured Data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Latest APMC market prices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Commodity variety &amp; modal rates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2194560"/>
            <a:ext cx="182880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1E293B"/>
                </a:solidFill>
              </a:defRPr>
            </a:pPr>
            <a:r>
              <a:t>Unsupported Query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Safe refusal response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Polite boundary notification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Out-of-scope redirection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92640" y="2194560"/>
            <a:ext cx="20116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B91C1C"/>
                </a:solidFill>
              </a:defRPr>
            </a:pPr>
            <a:r>
              <a:t>Insufficient Evidence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→ ABSTAIN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Safe multilingual response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Direct to Kisan Call Center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31920"/>
            <a:ext cx="347472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B45309"/>
                </a:solidFill>
              </a:defRPr>
            </a:pPr>
            <a:r>
              <a:t>S7: Retrieved Evidence Context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Aggregated knowledge chunks &amp; structured data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Authoritative provenance from ICAR / MoAFW / Agmarknet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Zero hallucinated content injected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931920"/>
            <a:ext cx="356616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4338CA"/>
                </a:solidFill>
              </a:defRPr>
            </a:pPr>
            <a:r>
              <a:t>S8: ✦ Gemini LLM (Reasoning Layer)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Multilingual synthesis &amp; logical reasoning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Constrained strictly to retrieved evidence context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Explicitly NOT the authoritative knowledge source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3931920"/>
            <a:ext cx="347472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1D4ED8"/>
                </a:solidFill>
              </a:defRPr>
            </a:pPr>
            <a:r>
              <a:t>S9: Grounding Validation &amp; Citations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Post-LLM factual consistency verification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Append verified source document citations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Safety guardrail validation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486400"/>
            <a:ext cx="54864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15803D"/>
                </a:solidFill>
              </a:defRPr>
            </a:pPr>
            <a:r>
              <a:t>S10: Grounded Response Delivery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Final verified response communicated in farmer's preferred language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Includes actionable advice, scheme steps, or mandi price trends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5486400"/>
            <a:ext cx="27432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0369A1"/>
                </a:solidFill>
              </a:defRPr>
            </a:pPr>
            <a:r>
              <a:t>Sarvam TTS (Voice Response)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Bulbul v3 Indic speech synthesis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Delivered if initial query was voice audio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18320" y="5486400"/>
            <a:ext cx="22860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15803D"/>
                </a:solidFill>
              </a:defRPr>
            </a:pPr>
            <a:r>
              <a:t>Farmer Receives Answer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Accessible via mobile web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Voice audio or text display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