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b="1" sz="1300">
                <a:solidFill>
                  <a:srgbClr val="1D4ED8"/>
                </a:solidFill>
              </a:defRPr>
            </a:pPr>
            <a:r>
              <a:t>HackWave · KrishiVaani  |  System Architecture (Editable PPT View)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0" y="91440"/>
            <a:ext cx="658368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B45309"/>
                </a:solidFill>
              </a:defRPr>
            </a:pPr>
            <a:r>
              <a:t>★ Official agricultural data is the source of truth — AI retrieves, validates, and communicates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3152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Farmer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Multimodal input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(Voice or Text)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Voice / Text Input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BCP-47 language tag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(hi-IN, te-IN, mr-IN, etc.)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560320"/>
            <a:ext cx="16459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369A1"/>
                </a:solidFill>
              </a:defRPr>
            </a:pPr>
            <a:r>
              <a:t>Sarvam STT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saaras:v3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Indic speech recognition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93776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369A1"/>
                </a:solidFill>
              </a:defRPr>
            </a:pPr>
            <a:r>
              <a:t>Sarvam TTS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bulbul:v3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Indic voice synthesis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85216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Response to Farmer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Multilingual voice/text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731520"/>
            <a:ext cx="6858000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b="1" sz="1100">
                <a:solidFill>
                  <a:srgbClr val="1D4ED8"/>
                </a:solidFill>
              </a:defRPr>
            </a:pPr>
            <a:r>
              <a:t>FastAPI Backend Orchestrator (10-layer RAG &amp; Guardrails)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097280"/>
            <a:ext cx="16459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D4ED8"/>
                </a:solidFill>
              </a:defRPr>
            </a:pPr>
            <a:r>
              <a:t>FastAPI /query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Request ID &amp;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828800"/>
            <a:ext cx="16459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Query Preprocessing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Unicode NFKC · Normalization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2560320"/>
            <a:ext cx="16459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Intent Classification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Regex keywords · 6 intents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291840"/>
            <a:ext cx="164592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Context Extraction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Crop, State, Season, Stage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560320"/>
            <a:ext cx="14630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91C1C"/>
                </a:solidFill>
              </a:defRPr>
            </a:pPr>
            <a:r>
              <a:t>Unsupported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Safe refusal response</a:t>
            </a:r>
          </a:p>
        </p:txBody>
      </p:sp>
      <p:sp>
        <p:nvSpPr>
          <p:cNvPr id="15" name="Hexagon 14"/>
          <p:cNvSpPr/>
          <p:nvPr/>
        </p:nvSpPr>
        <p:spPr>
          <a:xfrm>
            <a:off x="2377440" y="4023360"/>
            <a:ext cx="1645920" cy="548640"/>
          </a:xfrm>
          <a:prstGeom prst="hexagon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6D28D9"/>
                </a:solidFill>
              </a:defRPr>
            </a:pPr>
            <a:r>
              <a:t>Query Routing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Intent-based routing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474720"/>
            <a:ext cx="2194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6D28D9"/>
                </a:solidFill>
              </a:defRPr>
            </a:pPr>
            <a:r>
              <a:t>Agri Knowledge Retrieval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Vector + Keyword Hybrid Search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text-embedding-004 (768-dim)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Crop &amp; advisory filter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474720"/>
            <a:ext cx="2103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Government Schemes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Structured Scheme Data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Eligibility &amp; subsidy catalog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Direct portal application links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377440"/>
            <a:ext cx="2103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45309"/>
                </a:solidFill>
              </a:defRPr>
            </a:pPr>
            <a:r>
              <a:t>Mandi Market Prices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Structured Mandi Data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Daily APMC rates &amp; arrivals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Commodity modal prices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663440"/>
            <a:ext cx="21945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45309"/>
                </a:solidFill>
              </a:defRPr>
            </a:pPr>
            <a:r>
              <a:t>Retrieved Evidence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Verified official context chunks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663440"/>
            <a:ext cx="21031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91C1C"/>
                </a:solidFill>
              </a:defRPr>
            </a:pPr>
            <a:r>
              <a:t>Insufficient Evidence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→ ABSTAIN (Kisan Helpline)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5486400"/>
            <a:ext cx="21945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4338CA"/>
                </a:solidFill>
              </a:defRPr>
            </a:pPr>
            <a:r>
              <a:t>✦ Gemini LLM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Reasoning layer — NOT data source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Strictly grounded in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5486400"/>
            <a:ext cx="21031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D4ED8"/>
                </a:solidFill>
              </a:defRPr>
            </a:pPr>
            <a:r>
              <a:t>Grounding Validation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Post-LLM fact &amp; safety check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Append official citations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731520"/>
            <a:ext cx="2651760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b="1" sz="1100">
                <a:solidFill>
                  <a:srgbClr val="0369A1"/>
                </a:solidFill>
              </a:defRPr>
            </a:pPr>
            <a:r>
              <a:t>Authoritative Data Stores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1097280"/>
            <a:ext cx="2286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ICAR / SAUs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Package of Practices (POP)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Scientific crop &amp; pest guides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2011680"/>
            <a:ext cx="2286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45309"/>
                </a:solidFill>
              </a:defRPr>
            </a:pPr>
            <a:r>
              <a:t>Government Schemes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MoAFW, PM-KISAN, PMFBY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Eligibility &amp; subsidy 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2926080"/>
            <a:ext cx="2286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F766E"/>
                </a:solidFill>
              </a:defRPr>
            </a:pPr>
            <a:r>
              <a:t>Agmarknet / Data.gov.in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Daily APMC mandi market records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Arrival rates &amp; commodities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3840480"/>
            <a:ext cx="22860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F766E"/>
                </a:solidFill>
              </a:defRPr>
            </a:pPr>
            <a:r>
              <a:t>⛁ Supabase (PostgreSQL + pgvector)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knowledge_chunks [vector(768)]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source_documents [provenance]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government_schemes [catalog]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mandi_prices [APMC records]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farmer_profiles &amp; farmer_crops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conversations &amp; query_logs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response_logs &amp; sync_logs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